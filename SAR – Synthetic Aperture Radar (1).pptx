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1" r:id="rId13"/>
    <p:sldId id="270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D3B3B-2F74-9CC2-28AC-4A3AB1086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5236EB-4767-467F-8C34-BD3912984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A9CFE-70D4-2471-1809-B37B399A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9AA3-5820-4EBE-ABDB-9FDC7103161A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BB594-5302-5A56-21D8-DCB592480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1320B-BE5F-8DFE-0994-6FC83AFB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1AFC-5879-4515-A163-360B955A1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983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650EA-36F4-2C0A-8A17-0B6199409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D31CA-B493-8C7B-772D-9EEE16851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40BFD-9FA2-D762-2B67-71F5D1692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9AA3-5820-4EBE-ABDB-9FDC7103161A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3F833-C549-4A3E-29E4-448050311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DF4BB-0402-0EC9-ED8F-CE5FC008B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1AFC-5879-4515-A163-360B955A1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65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50BC-0E97-0A2A-D78B-6F6A37DF3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77509-1F29-763D-4F58-79E761DC9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AC492-6CE5-89B2-52C7-60389380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9AA3-5820-4EBE-ABDB-9FDC7103161A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78FCC-DC74-638B-585F-3638B7967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25488-8AD4-0604-6120-0FFC2448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1AFC-5879-4515-A163-360B955A1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734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48CC-2543-8BF4-34EF-3F05F66A0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29F0F-6402-1BE4-F021-72217BD47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E2251-3843-A000-D5D1-8A18458FE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7A340-CCA9-D647-DEA4-CBACE8479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9AA3-5820-4EBE-ABDB-9FDC7103161A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87185-88C9-0C49-0139-8421031A8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B6F1E-3F9B-07E9-65BF-C9689A252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1AFC-5879-4515-A163-360B955A1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33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05CA-D58E-8505-CB98-A0C2ED7B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300C4-7A9A-516A-6981-AB63F20EF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C96E3-BFEF-DCA0-9A0E-432CA8E65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4212AE-C794-C766-8DAA-8BB5F7CCF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28E0D3-5F97-3D5F-1B2B-F5447224B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155A6F-B8AD-A7FE-407E-3D0DDFEA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9AA3-5820-4EBE-ABDB-9FDC7103161A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B4C4AA-6E5F-4F1A-367E-FC44F21BB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8B711A-454D-78A2-54FD-84F83FEC4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1AFC-5879-4515-A163-360B955A1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472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49041-8068-8FA1-0E49-2939CB44C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EBACD-34BB-9D71-333B-231162D08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9AA3-5820-4EBE-ABDB-9FDC7103161A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21B001-A108-E4FC-E1A9-1C9ED3E15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C4D9B-9E76-FB65-884C-913A7792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1AFC-5879-4515-A163-360B955A1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907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77AFE-28A0-82CA-BF28-CE0F3F6E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9AA3-5820-4EBE-ABDB-9FDC7103161A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4E4559-1DAF-959E-7605-A4F1792DB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733F8-0807-22DB-DD58-9293B1BE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1AFC-5879-4515-A163-360B955A1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003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3AC02-038E-44E1-C416-693AC5789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A06F8-4EE9-7ED6-383F-17EAF41EE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48E481-7B02-C272-9671-9B8C12B6E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5EACC-AEC6-CB28-6BBF-FF7E25C51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9AA3-5820-4EBE-ABDB-9FDC7103161A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76322-EC67-A3A1-9D34-E807F8098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C101D-0A62-B0A0-FE00-3919BAEF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1AFC-5879-4515-A163-360B955A1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541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215D-2FFF-ABAA-A881-0768B6DF6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B27EA5-BC66-CC9A-D080-5309ADEE2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EA4EAB-3C7A-E62B-6B1A-BC60F665A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DABEC-231C-8C98-9E36-05D220E18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9AA3-5820-4EBE-ABDB-9FDC7103161A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05E55-E382-F0E9-11E2-CEB9E7B07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2ABD8-3434-25E4-C645-1C78A012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1AFC-5879-4515-A163-360B955A1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216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269A-3FAD-518C-A27A-FB01D10FF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093A31-3C46-1B0C-F58E-5B82B7B73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E31A-AAD6-F529-00D3-6832374D6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9AA3-5820-4EBE-ABDB-9FDC7103161A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FB7EC-8CCA-B007-9866-34E965E97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8CBF9-6F53-0116-0C94-1E1E50629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1AFC-5879-4515-A163-360B955A1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018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99951E-2226-4CCE-7460-2242C9A85B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9A930-9171-16D6-0979-DF8AFE7E2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7CA67-A4C3-6A0B-8737-9EAC51DF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9AA3-5820-4EBE-ABDB-9FDC7103161A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51026-4E66-195A-0EA9-FC1555B2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4FD12-9D40-6EA8-640C-BB3FEFA2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1AFC-5879-4515-A163-360B955A1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712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20765B-7420-9656-E39A-63B9F62F8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7C4AF-E5E6-FDC4-09B3-5CDE77054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0567D-E898-15F8-37A6-FBB3A1ADE9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09AA3-5820-4EBE-ABDB-9FDC7103161A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D6AC1-C11D-A9A4-37CA-B05E2203C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F9EE2-4DB1-C69E-57AD-7084CDE57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01AFC-5879-4515-A163-360B955A1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1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entinels.copernicus.eu/web/sentinel/user-guides/sentinel-1-sar/definitions" TargetMode="External"/><Relationship Id="rId2" Type="http://schemas.openxmlformats.org/officeDocument/2006/relationships/hyperlink" Target="https://elib.dlr.de/82313/1/SAR-Tutorial-March-2013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o.uzh.ch/~fpaul/sar_theory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821B3-D40D-0C20-7207-41F33B828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 – Synthetic Aperture Radar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41B67-9FAD-D5F1-B8DD-0EF68F326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8425"/>
            <a:ext cx="10515600" cy="5124450"/>
          </a:xfrm>
        </p:spPr>
        <p:txBody>
          <a:bodyPr>
            <a:normAutofit/>
          </a:bodyPr>
          <a:lstStyle/>
          <a:p>
            <a:r>
              <a:rPr lang="en-US" dirty="0"/>
              <a:t>First </a:t>
            </a:r>
            <a:r>
              <a:rPr lang="en-IN" dirty="0"/>
              <a:t>– Walk on Real Radar Systems</a:t>
            </a:r>
          </a:p>
          <a:p>
            <a:r>
              <a:rPr lang="en-IN" dirty="0"/>
              <a:t>And the Specifications of SAR and types </a:t>
            </a:r>
          </a:p>
          <a:p>
            <a:r>
              <a:rPr lang="en-IN" dirty="0"/>
              <a:t> </a:t>
            </a:r>
            <a:r>
              <a:rPr lang="en-US" dirty="0"/>
              <a:t>Queries , TBD and Discussions</a:t>
            </a:r>
            <a:endParaRPr lang="en-IN" dirty="0"/>
          </a:p>
          <a:p>
            <a:r>
              <a:rPr lang="en-IN" dirty="0"/>
              <a:t>Working on! Current process!!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2116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1E19A-0A51-822D-0972-30146486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 on - - Real aperture Radar or Radar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E7AE2-1149-7687-4A2D-0F7012FB9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Outline – Polarization </a:t>
            </a:r>
          </a:p>
          <a:p>
            <a:r>
              <a:rPr lang="en-US" dirty="0"/>
              <a:t>HH,HV, VV, VH</a:t>
            </a:r>
          </a:p>
          <a:p>
            <a:r>
              <a:rPr lang="en-US" dirty="0"/>
              <a:t>HH- good in Penetration mostly the Cities</a:t>
            </a:r>
          </a:p>
          <a:p>
            <a:r>
              <a:rPr lang="en-US" dirty="0"/>
              <a:t>VV – good for the sensitivity of Water bodies</a:t>
            </a:r>
          </a:p>
          <a:p>
            <a:r>
              <a:rPr lang="en-US" dirty="0"/>
              <a:t>HV and VH have good sensitivity over the plains and forest</a:t>
            </a:r>
          </a:p>
          <a:p>
            <a:endParaRPr lang="en-US" dirty="0"/>
          </a:p>
          <a:p>
            <a:r>
              <a:rPr lang="en-US" dirty="0"/>
              <a:t>(NISAR uses all Three to get a better Image quality in SAR)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656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6A586-407F-5195-4312-B8CD743B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F0B0-FB5B-59D3-245E-3159491C4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types</a:t>
            </a:r>
          </a:p>
          <a:p>
            <a:r>
              <a:rPr lang="en-US" dirty="0"/>
              <a:t>Range and Azimuth resolution</a:t>
            </a:r>
          </a:p>
          <a:p>
            <a:endParaRPr lang="en-US" dirty="0"/>
          </a:p>
          <a:p>
            <a:r>
              <a:rPr lang="en-US" dirty="0"/>
              <a:t>Range resolution depends on the Pulse Width .</a:t>
            </a:r>
          </a:p>
          <a:p>
            <a:r>
              <a:rPr lang="en-US" dirty="0"/>
              <a:t>Two parameters SRR and GRR – slant range and Ground Range\</a:t>
            </a:r>
          </a:p>
          <a:p>
            <a:r>
              <a:rPr lang="en-US" dirty="0"/>
              <a:t>Maintaining the Far Range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6292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A49BE-45A1-5A45-2A1A-913BD6227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877550" cy="1092200"/>
          </a:xfrm>
        </p:spPr>
        <p:txBody>
          <a:bodyPr>
            <a:normAutofit fontScale="90000"/>
          </a:bodyPr>
          <a:lstStyle/>
          <a:p>
            <a:r>
              <a:rPr lang="en-US" dirty="0"/>
              <a:t>Maintaining the Far range for the Range Resolution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4D562C-7D63-692A-D136-E866B5C8B9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65"/>
          <a:stretch/>
        </p:blipFill>
        <p:spPr bwMode="auto">
          <a:xfrm>
            <a:off x="1485900" y="1457325"/>
            <a:ext cx="8758238" cy="51863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42552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DF1AC-CDED-2ED0-D0F9-09C32C264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 off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12ACA-6FA2-3567-0B6F-7493BE602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SRR = Time of Transmission x 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Time of Transmission </a:t>
            </a:r>
            <a:r>
              <a:rPr lang="en-US" dirty="0">
                <a:highlight>
                  <a:srgbClr val="FFFF00"/>
                </a:highlight>
              </a:rPr>
              <a:t>Proportional</a:t>
            </a:r>
            <a:r>
              <a:rPr lang="en-US" dirty="0"/>
              <a:t> pulse width </a:t>
            </a:r>
            <a:r>
              <a:rPr lang="en-US" dirty="0">
                <a:highlight>
                  <a:srgbClr val="FFFF00"/>
                </a:highlight>
              </a:rPr>
              <a:t>Proportional</a:t>
            </a:r>
            <a:r>
              <a:rPr lang="en-US" dirty="0"/>
              <a:t> Power Transmitted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So, we need to fix the resolution range ! And go through the Tradeoff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5310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45029-3047-01B5-19DD-4367A756E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Azimuth Resolution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E9292-B4B7-BAF7-8270-009B26C4E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Narrower the Beamwidth == More the Resolution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Length of the increase more the Precise the Data from SAR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Nearer the Object – Nearer the field more the Resolution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9383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D6631-CF60-32CC-1C69-83BA82D4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Nearer the Field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498ABE5-E182-52D4-7BCC-1BD68343B3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842" y="1825625"/>
            <a:ext cx="500031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106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E976D-3998-DA61-2EFD-896A35F83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 off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7FE4B-9A75-6535-16DB-E40199DE4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Antenna Length and the Resolution and the Cover area- Aperture area</a:t>
            </a:r>
          </a:p>
          <a:p>
            <a:endParaRPr lang="en-US" dirty="0"/>
          </a:p>
          <a:p>
            <a:r>
              <a:rPr lang="en-US" dirty="0"/>
              <a:t>More the Length of Antenna more the Resolution!!</a:t>
            </a:r>
          </a:p>
          <a:p>
            <a:r>
              <a:rPr lang="en-IN" dirty="0"/>
              <a:t>And the Wavelength is Lesser more the Resolution!!</a:t>
            </a:r>
          </a:p>
          <a:p>
            <a:r>
              <a:rPr lang="en-IN" dirty="0"/>
              <a:t>Distance between the Satellite and the Earth surface is higher lesser the resolution- Azimuth Resolution</a:t>
            </a:r>
          </a:p>
          <a:p>
            <a:r>
              <a:rPr lang="en-IN" dirty="0"/>
              <a:t>So we are moving to SAR</a:t>
            </a:r>
          </a:p>
        </p:txBody>
      </p:sp>
    </p:spTree>
    <p:extLst>
      <p:ext uri="{BB962C8B-B14F-4D97-AF65-F5344CB8AC3E}">
        <p14:creationId xmlns:p14="http://schemas.microsoft.com/office/powerpoint/2010/main" val="2857236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1C0E-9CFD-F313-8F57-38952F8EA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 Consideration, the Doppler Shift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8B489-AB17-E05C-801B-AC23FAFE3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the movement of the source or the object sensed is moving the Frequency will change</a:t>
            </a:r>
          </a:p>
          <a:p>
            <a:endParaRPr lang="en-US" dirty="0"/>
          </a:p>
          <a:p>
            <a:r>
              <a:rPr lang="en-US" dirty="0"/>
              <a:t>For know we consider the motion of the structure moving in earth in a mountain then the wave we send , will return at Higher Frequency , when it is moving the thing is vice versa , will return the lower frequency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6995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35EB5-3F54-5C40-8BF8-CE6104113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89218-D135-84C7-94DA-02A94610C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the RADAR system – data from many points like data from the moving satellite in Azimuth Direction</a:t>
            </a:r>
          </a:p>
          <a:p>
            <a:r>
              <a:rPr lang="en-US" dirty="0"/>
              <a:t>Many points with </a:t>
            </a:r>
            <a:r>
              <a:rPr lang="en-US" dirty="0">
                <a:highlight>
                  <a:srgbClr val="FFFF00"/>
                </a:highlight>
              </a:rPr>
              <a:t>an Effective DSP and the Doppler effect matching can produce the Image with Best Resolution.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  <a:p>
            <a:r>
              <a:rPr lang="en-IN" dirty="0"/>
              <a:t>Theoretically it seemed to be increase in size of antenna , That we are acquiring data from the different points in Azimuth direction</a:t>
            </a:r>
          </a:p>
        </p:txBody>
      </p:sp>
    </p:spTree>
    <p:extLst>
      <p:ext uri="{BB962C8B-B14F-4D97-AF65-F5344CB8AC3E}">
        <p14:creationId xmlns:p14="http://schemas.microsoft.com/office/powerpoint/2010/main" val="4189400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F2CA6-A81C-6AB1-2F2D-3C1966713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 model</a:t>
            </a:r>
            <a:endParaRPr lang="en-IN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176BDBBA-9FA1-B498-7B0A-70E3389CF7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048" y="1825625"/>
            <a:ext cx="573790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9857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E24ED-95F2-6D28-6B26-E1B3E822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SAR (literature and Done by other)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64C58-9A1A-4F1B-5362-68C48AC41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SCAN SAR – achieved  40-40 range and azimuth in swath of 500km</a:t>
            </a:r>
          </a:p>
          <a:p>
            <a:r>
              <a:rPr lang="en-US" dirty="0"/>
              <a:t>SPOTLIGHT SAR- achieved 1m – 3 m in swath of 25km,4-2 in 80km</a:t>
            </a:r>
          </a:p>
          <a:p>
            <a:r>
              <a:rPr lang="en-US" dirty="0"/>
              <a:t>STRIPMAP SAR- achieved 3-1 m in swath of 35 km</a:t>
            </a:r>
          </a:p>
          <a:p>
            <a:r>
              <a:rPr lang="en-US" dirty="0"/>
              <a:t>TOP SAR- achieved 43-8 m in swath of 400 km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8294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16573D2B-105E-39EF-D4D9-2F099351C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0"/>
            <a:ext cx="11879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0239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2A934-B646-A303-8851-D04B79CA0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Queries !! and TBD and Discussions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F5319-8E57-7E4F-A221-515BA111C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is our Resolution range and TBD the type of SAR need be designed</a:t>
            </a:r>
            <a:r>
              <a:rPr lang="en-IN" dirty="0"/>
              <a:t>!</a:t>
            </a:r>
          </a:p>
          <a:p>
            <a:r>
              <a:rPr lang="en-IN" dirty="0"/>
              <a:t>Pulse width and signal frequency!- application</a:t>
            </a:r>
          </a:p>
          <a:p>
            <a:r>
              <a:rPr lang="en-US" dirty="0"/>
              <a:t>Power consumed by the Spotlight Sar is much higher the Scan SAR, Proposal docs say the Power for Processing is 70 w which is achieved for 20W to 30W SCAN SAR ,  other SAR cannot operate in this Range!</a:t>
            </a:r>
          </a:p>
          <a:p>
            <a:r>
              <a:rPr lang="en-US" dirty="0"/>
              <a:t>The Antenna length element is a Concern in the Dimensions of the Satellite!</a:t>
            </a:r>
          </a:p>
          <a:p>
            <a:r>
              <a:rPr lang="en-US" dirty="0"/>
              <a:t>Next detailed level designs</a:t>
            </a:r>
          </a:p>
        </p:txBody>
      </p:sp>
    </p:spTree>
    <p:extLst>
      <p:ext uri="{BB962C8B-B14F-4D97-AF65-F5344CB8AC3E}">
        <p14:creationId xmlns:p14="http://schemas.microsoft.com/office/powerpoint/2010/main" val="908920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90401-D43E-C003-C1FC-0E1D37E5A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BA956-A709-2F11-12A8-FFC97903B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IN" dirty="0"/>
              <a:t>A tutorial on SAR 2013 : </a:t>
            </a:r>
            <a:r>
              <a:rPr lang="en-IN" dirty="0">
                <a:hlinkClick r:id="rId2" tooltip="https://elib.dlr.de/82313/1/sar-tutorial-march-2013.pdf"/>
              </a:rPr>
              <a:t>https://elib.dlr.de/82313/1/SAR-Tutorial-March-2013.pdf</a:t>
            </a:r>
            <a:endParaRPr lang="en-IN" dirty="0"/>
          </a:p>
          <a:p>
            <a:pPr rtl="0"/>
            <a:r>
              <a:rPr lang="en-IN" dirty="0"/>
              <a:t>SAR terminologies : </a:t>
            </a:r>
            <a:r>
              <a:rPr lang="en-IN" dirty="0">
                <a:hlinkClick r:id="rId3" tooltip="https://sentinels.copernicus.eu/web/sentinel/user-guides/sentinel-1-sar/definitions"/>
              </a:rPr>
              <a:t>https://sentinels.copernicus.eu/web/sentinel/user-guides/sentinel-1-sar/definitions</a:t>
            </a:r>
            <a:endParaRPr lang="en-IN" dirty="0"/>
          </a:p>
          <a:p>
            <a:pPr rtl="0"/>
            <a:r>
              <a:rPr lang="en-IN" dirty="0"/>
              <a:t>SAR theory : </a:t>
            </a:r>
            <a:r>
              <a:rPr lang="en-IN" dirty="0">
                <a:hlinkClick r:id="rId4" tooltip="https://www.geo.uzh.ch/~fpaul/sar_theory.html"/>
              </a:rPr>
              <a:t>https://www.geo.uzh.ch/~fpaul/sar_theory.html</a:t>
            </a:r>
            <a:endParaRPr lang="en-IN" dirty="0"/>
          </a:p>
          <a:p>
            <a:pPr rtl="0"/>
            <a:r>
              <a:rPr lang="en-IN" dirty="0"/>
              <a:t>Remote Sensing IITB – </a:t>
            </a:r>
            <a:r>
              <a:rPr lang="en-IN" dirty="0" err="1"/>
              <a:t>Prof.R.Eswar</a:t>
            </a:r>
            <a:r>
              <a:rPr lang="en-IN" dirty="0"/>
              <a:t>  theory notes</a:t>
            </a:r>
          </a:p>
          <a:p>
            <a:pPr rtl="0"/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1476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1538</TotalTime>
  <Words>593</Words>
  <Application>Microsoft Office PowerPoint</Application>
  <PresentationFormat>Widescreen</PresentationFormat>
  <Paragraphs>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SAR – Synthetic Aperture Radar</vt:lpstr>
      <vt:lpstr>Walk on - - Real aperture Radar or Radar Systems</vt:lpstr>
      <vt:lpstr>Resolution</vt:lpstr>
      <vt:lpstr>Maintaining the Far range for the Range Resolution</vt:lpstr>
      <vt:lpstr>Trade off</vt:lpstr>
      <vt:lpstr>Azimuth Resolution</vt:lpstr>
      <vt:lpstr>Nearer the Field</vt:lpstr>
      <vt:lpstr>Trade off</vt:lpstr>
      <vt:lpstr>@ Consideration, the Doppler Shift </vt:lpstr>
      <vt:lpstr>SAR</vt:lpstr>
      <vt:lpstr>SAR model</vt:lpstr>
      <vt:lpstr>Types of SAR (literature and Done by other)</vt:lpstr>
      <vt:lpstr>PowerPoint Presentation</vt:lpstr>
      <vt:lpstr>Queries !! and TBD and Discussions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 – Synthetic Aperture Radar</dc:title>
  <dc:creator>Soundar Rajan G</dc:creator>
  <cp:lastModifiedBy>CAMHI Club</cp:lastModifiedBy>
  <cp:revision>2</cp:revision>
  <dcterms:created xsi:type="dcterms:W3CDTF">2024-05-07T10:27:40Z</dcterms:created>
  <dcterms:modified xsi:type="dcterms:W3CDTF">2025-12-06T11:04:06Z</dcterms:modified>
</cp:coreProperties>
</file>